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3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CoWork/Astrikos Mixed Colour Deck Template/assets/astrikos_logo_metall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84124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MEW · TENDER 44/2014-2015 · SECTION 5.1E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514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Al Dhaher filling workflow,</a:t>
            </a:r>
            <a:endParaRPr lang="en-US" sz="37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end to end on S!aP</a:t>
            </a:r>
            <a:endParaRPr lang="en-US" sz="3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3931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FCBE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tanker becomes one governed, prepaid journey — from the gate to the MEW bank account, owned and configurable by MEW.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86A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PREPARED FOR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5285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Ministry of Electricity &amp; Water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3447288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86A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SCOPE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3447288" y="5285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 Dhaher LFS · 42 bays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236208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86A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6236208" y="5285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Commercial-in-Confidence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9025128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86A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DATE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9025128" y="52852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[DD Month YYYY]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we will cover.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1554480" y="1801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end-to-end workflow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21671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governed journey, gate to settlement.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2715768"/>
            <a:ext cx="5349240" cy="0"/>
          </a:xfrm>
          <a:prstGeom prst="line">
            <a:avLst/>
          </a:prstGeom>
          <a:noFill/>
          <a:ln w="12700">
            <a:solidFill>
              <a:srgbClr val="DDDAE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1801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cast — personas &amp; things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21671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 acts and what moves through the flow.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09360" y="2715768"/>
            <a:ext cx="5349240" cy="0"/>
          </a:xfrm>
          <a:prstGeom prst="line">
            <a:avLst/>
          </a:prstGeom>
          <a:noFill/>
          <a:ln w="12700">
            <a:solidFill>
              <a:srgbClr val="DDDA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1554480" y="3264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Stage by stage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36301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Entry, authenticate, fill, debit &amp; settle.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4178808"/>
            <a:ext cx="5349240" cy="0"/>
          </a:xfrm>
          <a:prstGeom prst="line">
            <a:avLst/>
          </a:prstGeom>
          <a:noFill/>
          <a:ln w="12700">
            <a:solidFill>
              <a:srgbClr val="DDDA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32644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the user sees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36301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MEW Pay app and the operator platform.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09360" y="4178808"/>
            <a:ext cx="5349240" cy="0"/>
          </a:xfrm>
          <a:prstGeom prst="line">
            <a:avLst/>
          </a:prstGeom>
          <a:noFill/>
          <a:ln w="12700">
            <a:solidFill>
              <a:srgbClr val="DDDAE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" y="4709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19"/>
          <p:cNvSpPr txBox="1"/>
          <p:nvPr/>
        </p:nvSpPr>
        <p:spPr>
          <a:xfrm>
            <a:off x="1554480" y="47274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Governance &amp; resilience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554480" y="50932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Historized, governed, advised — and offline-safe.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0080" y="5641848"/>
            <a:ext cx="5349240" cy="0"/>
          </a:xfrm>
          <a:prstGeom prst="line">
            <a:avLst/>
          </a:prstGeom>
          <a:noFill/>
          <a:ln w="12700">
            <a:solidFill>
              <a:srgbClr val="DDDAE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09360" y="4709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7223760" y="47274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step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7223760" y="50932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we are asking MEW to do.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309360" y="5641848"/>
            <a:ext cx="5349240" cy="0"/>
          </a:xfrm>
          <a:prstGeom prst="line">
            <a:avLst/>
          </a:prstGeom>
          <a:noFill/>
          <a:ln w="12700">
            <a:solidFill>
              <a:srgbClr val="DDDAE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POINT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965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workflow turns 42 bays into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606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secured, prepaid, auditable revenue.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6576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step — identity, authorisation, fill, debit, settlement — is historized and explainable, and keeps running when the network drops.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EXHIBIT · THE WORKFLOW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governed journey, every tanker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80060" y="1563624"/>
            <a:ext cx="11228832" cy="5904530"/>
          </a:xfrm>
          <a:prstGeom prst="roundRect">
            <a:avLst>
              <a:gd name="adj" fmla="val 929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7" name="Image 2" descr="/sessions/wizardly-sharp-wozniak/mnt/outputs/demo/workflow_jour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" y="1600200"/>
            <a:ext cx="11155680" cy="583137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754130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steps, three personas, one platform underneath — read left to right; the ink band is what S!aP does at every step.</a:t>
            </a:r>
            <a:endParaRPr lang="en-US" sz="115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CAST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acts, and what moves through the flow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PERSONAS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8" name="Image 2" descr="/sessions/wizardly-sharp-wozniak/mnt/outputs/demo/icons/driver_6D65A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284903"/>
            <a:ext cx="294803" cy="29480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89888" y="21305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Tanker driver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389888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Arrives, authenticates and fills — via the truck card &amp; MEW Pay app.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2" name="Image 3" descr="/sessions/wizardly-sharp-wozniak/mnt/outputs/demo/icons/operator_6D65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336463"/>
            <a:ext cx="294803" cy="29480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89888" y="31821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Station / Salmiya operator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389888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Monitors bays, alarms and CCTV; acts on S!a guidance.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6" name="Image 4" descr="/sessions/wizardly-sharp-wozniak/mnt/outputs/demo/icons/bank_6D65A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388023"/>
            <a:ext cx="294803" cy="29480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89888" y="42336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MEW finance &amp; admin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389888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Owns accounts, K-net settlement, reporting and audit.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415784" y="1746504"/>
            <a:ext cx="4187952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20" name="Image 5" descr="/sessions/wizardly-sharp-wozniak/mnt/outputs/demo/truck_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783080"/>
            <a:ext cx="4114800" cy="23774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45236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THINGS IN THE FLOW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7452360" y="4709160"/>
            <a:ext cx="457200" cy="4572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23" name="Image 6" descr="/sessions/wizardly-sharp-wozniak/mnt/outputs/demo/icons/qr_6D65A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4818888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001000" y="4764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2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QR / PIN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869680" y="4709160"/>
            <a:ext cx="457200" cy="4572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26" name="Image 7" descr="/sessions/wizardly-sharp-wozniak/mnt/outputs/demo/icons/pump_6D65A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81888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418320" y="4764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2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Bay unit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10287000" y="4709160"/>
            <a:ext cx="457200" cy="4572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29" name="Image 8" descr="/sessions/wizardly-sharp-wozniak/mnt/outputs/demo/icons/valve_6D65A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6728" y="4818888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0835640" y="476402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2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Valve &amp; meter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7452360" y="5367528"/>
            <a:ext cx="457200" cy="4572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32" name="Image 9" descr="/sessions/wizardly-sharp-wozniak/mnt/outputs/demo/icons/kcard_6D65A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2088" y="5477256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8001000" y="5422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2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K-net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8869680" y="5367528"/>
            <a:ext cx="457200" cy="4572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35" name="Image 10" descr="/sessions/wizardly-sharp-wozniak/mnt/outputs/demo/icons/receipt_6D65A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9408" y="5477256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9418320" y="5422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2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Receipt</a:t>
            </a:r>
            <a:endParaRPr lang="en-US" sz="1100" dirty="0"/>
          </a:p>
        </p:txBody>
      </p:sp>
      <p:sp>
        <p:nvSpPr>
          <p:cNvPr id="37" name="Shape 24"/>
          <p:cNvSpPr/>
          <p:nvPr/>
        </p:nvSpPr>
        <p:spPr>
          <a:xfrm>
            <a:off x="10287000" y="5367528"/>
            <a:ext cx="457200" cy="4572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38" name="Image 11" descr="/sessions/wizardly-sharp-wozniak/mnt/outputs/demo/icons/shield_6D65A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6728" y="5477256"/>
            <a:ext cx="237744" cy="237744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10835640" y="542239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324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41" name="Text 27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STAGE 01 · DRIVER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matched tanker, admitted without a ticket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7" name="Image 2" descr="/sessions/wizardly-sharp-wozniak/mnt/outputs/demo/icons/camera_6D65A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102023"/>
            <a:ext cx="294803" cy="29480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89888" y="19476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LPR reads the plate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389888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gate camera captures the plate in day or 0-lux night and matches it to an account.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1" name="Image 3" descr="/sessions/wizardly-sharp-wozniak/mnt/outputs/demo/icons/gate_6D65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153583"/>
            <a:ext cx="294803" cy="29480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89888" y="29992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Barrier opens automatically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389888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Matched tankers are admitted; unmatched vehicles fall back to QR at the gate.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5" name="Image 4" descr="/sessions/wizardly-sharp-wozniak/mnt/outputs/demo/icons/truck_6D65A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205143"/>
            <a:ext cx="294803" cy="29480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89888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Truck card in hand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389888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Owner, account, plate and wallet travel with the driver — the actor for the whole journey.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40080" y="553212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343248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14400" y="5733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S!AP · CONNECT + ML &amp; AI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914400" y="5989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3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LPR runs on S!aP ML &amp; AI; the entry event is historized in the Datalake and matched to the tanker account in real time.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598664" y="2066544"/>
            <a:ext cx="4005072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22" name="Image 5" descr="/sessions/wizardly-sharp-wozniak/mnt/outputs/demo/truck_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103120"/>
            <a:ext cx="3931920" cy="22677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63524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truck card — identity for the journey.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STAGE 02 · DRIVER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Only a valid account, with balance, can fill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7" name="Image 2" descr="/sessions/wizardly-sharp-wozniak/mnt/outputs/demo/icons/qr_6D65A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102023"/>
            <a:ext cx="294803" cy="29480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89888" y="19476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Scan the bay QR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389888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driver scans the bay QR in the MEW Pay app — or enters the card serial.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1" name="Image 3" descr="/sessions/wizardly-sharp-wozniak/mnt/outputs/demo/icons/keypad_6D65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153583"/>
            <a:ext cx="294803" cy="29480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89888" y="29992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 PIN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389888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numeric PIN authenticates the user; three wrong tries locks the account and alerts the owner.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5" name="Image 4" descr="/sessions/wizardly-sharp-wozniak/mnt/outputs/demo/icons/wallet_6D65A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205143"/>
            <a:ext cx="294803" cy="29480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89888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Balance validated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389888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S!aP checks the wallet and shows the balance before any valve opens.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40080" y="553212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343248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14400" y="5733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S!AP · BPM + DATALAKE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914400" y="5989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3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BPM validates the account and balance and opens the transaction; every attempt is logged with an immutable audit trail.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9153144" y="1380744"/>
            <a:ext cx="2221992" cy="4462272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22" name="Image 5" descr="/sessions/wizardly-sharp-wozniak/mnt/outputs/demo/app_sc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417320"/>
            <a:ext cx="2148840" cy="43891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818120" y="5669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MEW Pay — scan to fill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STAGE 03 · DRIVER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Exact volume, custody-grade, no water lost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7" name="Image 2" descr="/sessions/wizardly-sharp-wozniak/mnt/outputs/demo/icons/valve_6D65A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102023"/>
            <a:ext cx="294803" cy="29480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89888" y="19476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Set volume, valve opens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389888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driver sets a volume; the tight shut-off valve opens under S!aP control.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1" name="Image 3" descr="/sessions/wizardly-sharp-wozniak/mnt/outputs/demo/icons/gauge_6D65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153583"/>
            <a:ext cx="294803" cy="29480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89888" y="29992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Custody-grade metering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389888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certified meter (±0.18%) counts every gallon; fine-fill top-up hits the set point.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5" name="Image 4" descr="/sessions/wizardly-sharp-wozniak/mnt/outputs/demo/icons/drop_6D65A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205143"/>
            <a:ext cx="294803" cy="29480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89888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Auto-stop &amp; anti-surge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389888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Fills stop at the set volume or low balance, with smooth ramps to avoid water hammer.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40080" y="553212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343248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14400" y="5733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S!AP · CONNECT + ML &amp; AI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914400" y="5989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3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drives the valve/meter loop; mass-balance analytics compare inlet vs. dispensed to flag water loss.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9153144" y="1380744"/>
            <a:ext cx="2221992" cy="4462272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22" name="Image 5" descr="/sessions/wizardly-sharp-wozniak/mnt/outputs/demo/app_fill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417320"/>
            <a:ext cx="2148840" cy="43891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818120" y="5669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MEW Pay — filling in progress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STAGE 04 · DRIVER &amp; MEW FINANCE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Paid to the exact gallon, reconciled to the bank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7" name="Image 2" descr="/sessions/wizardly-sharp-wozniak/mnt/outputs/demo/icons/wallet_6D65A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102023"/>
            <a:ext cx="294803" cy="29480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89888" y="19476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Exact-volume debit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389888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wallet is debited for the precise volume dispensed — never an estimate.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1" name="Image 3" descr="/sessions/wizardly-sharp-wozniak/mnt/outputs/demo/icons/sms_6D65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153583"/>
            <a:ext cx="294803" cy="29480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89888" y="29992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Receipt on completion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389888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SMS and email receipt is sent automatically, with a voucher QR.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5" name="Image 4" descr="/sessions/wizardly-sharp-wozniak/mnt/outputs/demo/icons/bank_6D65A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205143"/>
            <a:ext cx="294803" cy="29480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89888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K-net settlement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389888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Prepaid funds reconcile through K-net to the MEW bank account, matched daily.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40080" y="5532120"/>
            <a:ext cx="6766560" cy="868680"/>
          </a:xfrm>
          <a:prstGeom prst="roundRect">
            <a:avLst>
              <a:gd name="adj" fmla="val 10526"/>
            </a:avLst>
          </a:prstGeom>
          <a:solidFill>
            <a:srgbClr val="343248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14400" y="5733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S!AP · BPM + DATALAKE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914400" y="5989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3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BPM posts the debit and settlement; the Reconciler agent matches K-net to the MEW bank and flags any mismatch.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9153144" y="1380744"/>
            <a:ext cx="2221992" cy="4462272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22" name="Image 5" descr="/sessions/wizardly-sharp-wozniak/mnt/outputs/demo/app_receip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417320"/>
            <a:ext cx="2148840" cy="43891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818120" y="5669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MEW Pay — receipt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PRODUCT · DRIVER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the tanker owner actually sees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517904" y="1837944"/>
            <a:ext cx="2130552" cy="4279392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7" name="Image 2" descr="/sessions/wizardly-sharp-wozniak/mnt/outputs/demo/app_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74520"/>
            <a:ext cx="2057400" cy="4206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558784" y="1837944"/>
            <a:ext cx="2130552" cy="4279392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9" name="Image 3" descr="/sessions/wizardly-sharp-wozniak/mnt/outputs/demo/app_recei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874520"/>
            <a:ext cx="2057400" cy="42062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43484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Wallet &amp; quick pay</a:t>
            </a:r>
            <a:endParaRPr lang="en-US" sz="1600" dirty="0"/>
          </a:p>
        </p:txBody>
      </p:sp>
      <p:sp>
        <p:nvSpPr>
          <p:cNvPr id="11" name="Text 5"/>
          <p:cNvSpPr txBox="1"/>
          <p:nvPr/>
        </p:nvSpPr>
        <p:spPr>
          <a:xfrm>
            <a:off x="4434840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balance, top-up via K-net, scan-to-fill and full transaction history — in the driver’s pocket.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44348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Receipt &amp; voucher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4434840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Exact charge, new balance and a voucher QR — sent automatically to SMS &amp; email on completion.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PRODUCT · OPERATOR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the operator actually sees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1485900" y="1517904"/>
            <a:ext cx="9217152" cy="581746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pic>
        <p:nvPicPr>
          <p:cNvPr id="7" name="Image 2" descr="/sessions/wizardly-sharp-wozniak/mnt/outputs/demo/plat_b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" y="1554480"/>
            <a:ext cx="9144000" cy="57443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740851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S!aP Viz — live bay control at Al Dhaher, mirrored to the Salmiya command centre, with S!a guidance and one-click stop.</a:t>
            </a:r>
            <a:endParaRPr lang="en-US" sz="115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outputs/demo/logo_p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292608"/>
            <a:ext cx="566928" cy="5303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GOVERNANCE &amp; RESILIENCE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749808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34324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step is owned, explained and safe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64008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8" name="Image 2" descr="/sessions/wizardly-sharp-wozniak/mnt/outputs/demo/icons/shield_6D65A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67712"/>
            <a:ext cx="356616" cy="35661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Historized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3337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transaction, signal and event is stored in the Datalake — 10-year retention, DR-replicated to South Surra.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48056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800600" y="2103120"/>
            <a:ext cx="685800" cy="6858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3" name="Image 3" descr="/sessions/wizardly-sharp-wozniak/mnt/outputs/demo/icons/admin_6D65A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267712"/>
            <a:ext cx="356616" cy="3566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0060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Governed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800600" y="3337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Prepaid rules, SOPs and RBAC in BPM &amp; Core; an immutable audit trail for finance and inspection.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321040" y="17830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DFEE"/>
            </a:solidFill>
            <a:prstDash val="solid"/>
          </a:ln>
          <a:effectLst>
            <a:outerShdw sx="100000" sy="100000" kx="0" ky="0" algn="bl" rotWithShape="0" blurRad="114300" dist="38100" dir="5400000">
              <a:srgbClr val="B9B4D6">
                <a:alpha val="5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641080" y="2103120"/>
            <a:ext cx="685800" cy="685800"/>
          </a:xfrm>
          <a:prstGeom prst="ellipse">
            <a:avLst/>
          </a:prstGeom>
          <a:solidFill>
            <a:srgbClr val="E7E6F1"/>
          </a:solidFill>
          <a:ln/>
        </p:spPr>
      </p:sp>
      <p:pic>
        <p:nvPicPr>
          <p:cNvPr id="18" name="Image 4" descr="/sessions/wizardly-sharp-wozniak/mnt/outputs/demo/icons/operator_6D65A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2267712"/>
            <a:ext cx="356616" cy="3566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6410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65A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Advised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641080" y="3337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B495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S!a scores water-loss, fraud and demand, and recommends actions behind human-approval gates.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343248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914400" y="4956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OFFLINE-SAFE BY DESIGN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D3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the WAN drops, bays keep filling on the last-known balance and store transactions locally — a bay operates up to 15 days offline, then reconciles automatically when the link returns. Nothing is lost, nothing double-charged.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astrikos.ai   ·   Commercial-in-Confidence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1338560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799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32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wizardly-sharp-wozniak/mnt/outputs/demo/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91440"/>
          </a:xfrm>
          <a:prstGeom prst="rect">
            <a:avLst/>
          </a:prstGeom>
        </p:spPr>
      </p:pic>
      <p:pic>
        <p:nvPicPr>
          <p:cNvPr id="3" name="Image 1" descr="/sessions/wizardly-sharp-wozniak/mnt/CoWork/Astrikos Mixed Colour Deck Template/assets/astrikos_logo_metall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84124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1965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Approve a one-bay pilot and see the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full workflow run in four weeks.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BE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pilot bay proves identity, prepaid fill, receipt and settlement end to end before roll-out — the tender already provides for it (§2.9).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97F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connect@astrikos.ai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6A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Astrikos AI Technologies Limited   ·   Bengaluru · Dubai · Singapore · Texas   ·   astrikos.ai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BE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Think it. Ask it. Act on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2026-09-12T09:49:37Z</dcterms:created>
  <dcterms:modified xsi:type="dcterms:W3CDTF">2026-09-12T09:49:37Z</dcterms:modified>
</cp:coreProperties>
</file>